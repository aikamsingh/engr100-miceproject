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Atkinson Hyperlegible"/>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tkinsonHyperlegible-regular.fntdata"/><Relationship Id="rId14" Type="http://schemas.openxmlformats.org/officeDocument/2006/relationships/slide" Target="slides/slide9.xml"/><Relationship Id="rId17" Type="http://schemas.openxmlformats.org/officeDocument/2006/relationships/font" Target="fonts/AtkinsonHyperlegible-italic.fntdata"/><Relationship Id="rId16" Type="http://schemas.openxmlformats.org/officeDocument/2006/relationships/font" Target="fonts/AtkinsonHyperlegible-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AtkinsonHyperlegible-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e58046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9e58046ce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e58046ce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39e58046ce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e58046ce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9e58046ce8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e58046ce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9e58046ce8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e58046c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9e58046ce8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e58046ce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9e58046ce8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e58046ce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9e58046ce8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e58046ce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9e58046ce8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e58046ce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9e58046ce8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844025" y="1052512"/>
            <a:ext cx="2103450" cy="2733675"/>
          </a:xfrm>
          <a:prstGeom prst="rect">
            <a:avLst/>
          </a:prstGeom>
          <a:noFill/>
          <a:ln>
            <a:noFill/>
          </a:ln>
        </p:spPr>
      </p:pic>
      <p:pic>
        <p:nvPicPr>
          <p:cNvPr id="55" name="Google Shape;55;p13"/>
          <p:cNvPicPr preferRelativeResize="0"/>
          <p:nvPr/>
        </p:nvPicPr>
        <p:blipFill rotWithShape="1">
          <a:blip r:embed="rId3">
            <a:alphaModFix/>
          </a:blip>
          <a:srcRect b="0" l="0" r="0" t="0"/>
          <a:stretch/>
        </p:blipFill>
        <p:spPr>
          <a:xfrm flipH="1">
            <a:off x="6057825" y="1068325"/>
            <a:ext cx="2103450" cy="2733675"/>
          </a:xfrm>
          <a:prstGeom prst="rect">
            <a:avLst/>
          </a:prstGeom>
          <a:noFill/>
          <a:ln>
            <a:noFill/>
          </a:ln>
        </p:spPr>
      </p:pic>
      <p:sp>
        <p:nvSpPr>
          <p:cNvPr id="56" name="Google Shape;56;p13"/>
          <p:cNvSpPr txBox="1"/>
          <p:nvPr>
            <p:ph type="title"/>
          </p:nvPr>
        </p:nvSpPr>
        <p:spPr>
          <a:xfrm>
            <a:off x="2492350" y="2276175"/>
            <a:ext cx="3859200" cy="1640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120">
                <a:solidFill>
                  <a:schemeClr val="accent6"/>
                </a:solidFill>
                <a:latin typeface="Atkinson Hyperlegible"/>
                <a:ea typeface="Atkinson Hyperlegible"/>
                <a:cs typeface="Atkinson Hyperlegible"/>
                <a:sym typeface="Atkinson Hyperlegible"/>
              </a:rPr>
              <a:t>Jonas Pickerill, Aikam Singh, Kevin Ge, Peter Yu</a:t>
            </a:r>
            <a:endParaRPr sz="2120">
              <a:solidFill>
                <a:schemeClr val="accent6"/>
              </a:solidFill>
              <a:latin typeface="Atkinson Hyperlegible"/>
              <a:ea typeface="Atkinson Hyperlegible"/>
              <a:cs typeface="Atkinson Hyperlegible"/>
              <a:sym typeface="Atkinson Hyperlegible"/>
            </a:endParaRPr>
          </a:p>
          <a:p>
            <a:pPr indent="0" lvl="0" marL="457200" rtl="0" algn="ctr">
              <a:lnSpc>
                <a:spcPct val="100000"/>
              </a:lnSpc>
              <a:spcBef>
                <a:spcPts val="0"/>
              </a:spcBef>
              <a:spcAft>
                <a:spcPts val="0"/>
              </a:spcAft>
              <a:buSzPts val="2800"/>
              <a:buNone/>
            </a:pPr>
            <a:r>
              <a:t/>
            </a:r>
            <a:endParaRPr sz="2120">
              <a:solidFill>
                <a:schemeClr val="accent6"/>
              </a:solidFill>
              <a:latin typeface="Atkinson Hyperlegible"/>
              <a:ea typeface="Atkinson Hyperlegible"/>
              <a:cs typeface="Atkinson Hyperlegible"/>
              <a:sym typeface="Atkinson Hyperlegible"/>
            </a:endParaRPr>
          </a:p>
        </p:txBody>
      </p:sp>
      <p:sp>
        <p:nvSpPr>
          <p:cNvPr id="57" name="Google Shape;57;p13"/>
          <p:cNvSpPr txBox="1"/>
          <p:nvPr>
            <p:ph idx="1" type="body"/>
          </p:nvPr>
        </p:nvSpPr>
        <p:spPr>
          <a:xfrm>
            <a:off x="2871275" y="1841725"/>
            <a:ext cx="3110400" cy="7926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n" sz="2400">
                <a:solidFill>
                  <a:schemeClr val="accent5"/>
                </a:solidFill>
                <a:highlight>
                  <a:schemeClr val="lt1"/>
                </a:highlight>
                <a:latin typeface="Atkinson Hyperlegible"/>
                <a:ea typeface="Atkinson Hyperlegible"/>
                <a:cs typeface="Atkinson Hyperlegible"/>
                <a:sym typeface="Atkinson Hyperlegible"/>
              </a:rPr>
              <a:t>GROUP ONE</a:t>
            </a:r>
            <a:endParaRPr sz="2400">
              <a:solidFill>
                <a:schemeClr val="accent5"/>
              </a:solidFill>
              <a:highlight>
                <a:schemeClr val="lt1"/>
              </a:highlight>
              <a:latin typeface="Atkinson Hyperlegible"/>
              <a:ea typeface="Atkinson Hyperlegible"/>
              <a:cs typeface="Atkinson Hyperlegible"/>
              <a:sym typeface="Atkinson Hyperlegible"/>
            </a:endParaRPr>
          </a:p>
        </p:txBody>
      </p:sp>
      <p:sp>
        <p:nvSpPr>
          <p:cNvPr id="58" name="Google Shape;58;p13"/>
          <p:cNvSpPr txBox="1"/>
          <p:nvPr>
            <p:ph idx="1" type="body"/>
          </p:nvPr>
        </p:nvSpPr>
        <p:spPr>
          <a:xfrm>
            <a:off x="50" y="3933350"/>
            <a:ext cx="9144000" cy="1640400"/>
          </a:xfrm>
          <a:prstGeom prst="rect">
            <a:avLst/>
          </a:prstGeom>
          <a:noFill/>
          <a:ln>
            <a:noFill/>
          </a:ln>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SzPts val="1800"/>
              <a:buNone/>
            </a:pPr>
            <a:r>
              <a:rPr lang="en">
                <a:solidFill>
                  <a:schemeClr val="accent2"/>
                </a:solidFill>
                <a:highlight>
                  <a:schemeClr val="lt1"/>
                </a:highlight>
                <a:latin typeface="Atkinson Hyperlegible"/>
                <a:ea typeface="Atkinson Hyperlegible"/>
                <a:cs typeface="Atkinson Hyperlegible"/>
                <a:sym typeface="Atkinson Hyperlegible"/>
              </a:rPr>
              <a:t>When you’re done: </a:t>
            </a:r>
            <a:r>
              <a:rPr lang="en">
                <a:solidFill>
                  <a:schemeClr val="accent4"/>
                </a:solidFill>
                <a:highlight>
                  <a:schemeClr val="lt1"/>
                </a:highlight>
                <a:latin typeface="Atkinson Hyperlegible"/>
                <a:ea typeface="Atkinson Hyperlegible"/>
                <a:cs typeface="Atkinson Hyperlegible"/>
                <a:sym typeface="Atkinson Hyperlegible"/>
              </a:rPr>
              <a:t>File &gt; Make a Copy &gt; Selected Slides</a:t>
            </a:r>
            <a:br>
              <a:rPr lang="en">
                <a:solidFill>
                  <a:schemeClr val="accent2"/>
                </a:solidFill>
                <a:highlight>
                  <a:schemeClr val="lt1"/>
                </a:highlight>
                <a:latin typeface="Atkinson Hyperlegible"/>
                <a:ea typeface="Atkinson Hyperlegible"/>
                <a:cs typeface="Atkinson Hyperlegible"/>
                <a:sym typeface="Atkinson Hyperlegible"/>
              </a:rPr>
            </a:br>
            <a:r>
              <a:rPr lang="en">
                <a:solidFill>
                  <a:schemeClr val="accent2"/>
                </a:solidFill>
                <a:highlight>
                  <a:schemeClr val="lt1"/>
                </a:highlight>
                <a:latin typeface="Atkinson Hyperlegible"/>
                <a:ea typeface="Atkinson Hyperlegible"/>
                <a:cs typeface="Atkinson Hyperlegible"/>
                <a:sym typeface="Atkinson Hyperlegible"/>
              </a:rPr>
              <a:t>Select your slides, save them, submit them to the “Rotation 2: Writing Workshop” assignment, and refer to them while you work on your M.I.C.E! </a:t>
            </a:r>
            <a:endParaRPr>
              <a:solidFill>
                <a:schemeClr val="accent2"/>
              </a:solidFill>
              <a:highlight>
                <a:schemeClr val="lt1"/>
              </a:highlight>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SzPts val="1800"/>
              <a:buNone/>
            </a:pPr>
            <a:r>
              <a:rPr b="1" lang="en" sz="2400">
                <a:solidFill>
                  <a:schemeClr val="accent2"/>
                </a:solidFill>
                <a:highlight>
                  <a:schemeClr val="lt1"/>
                </a:highlight>
                <a:latin typeface="Atkinson Hyperlegible"/>
                <a:ea typeface="Atkinson Hyperlegible"/>
                <a:cs typeface="Atkinson Hyperlegible"/>
                <a:sym typeface="Atkinson Hyperlegible"/>
              </a:rPr>
              <a:t> </a:t>
            </a:r>
            <a:endParaRPr b="1" sz="2400">
              <a:solidFill>
                <a:schemeClr val="accent2"/>
              </a:solidFill>
              <a:highlight>
                <a:schemeClr val="lt1"/>
              </a:highlight>
              <a:latin typeface="Atkinson Hyperlegible"/>
              <a:ea typeface="Atkinson Hyperlegible"/>
              <a:cs typeface="Atkinson Hyperlegible"/>
              <a:sym typeface="Atkinson Hyperlegible"/>
            </a:endParaRPr>
          </a:p>
        </p:txBody>
      </p:sp>
      <p:sp>
        <p:nvSpPr>
          <p:cNvPr id="59" name="Google Shape;59;p13"/>
          <p:cNvSpPr txBox="1"/>
          <p:nvPr/>
        </p:nvSpPr>
        <p:spPr>
          <a:xfrm>
            <a:off x="50" y="579625"/>
            <a:ext cx="9144000" cy="1262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1200"/>
              </a:spcAft>
              <a:buClr>
                <a:srgbClr val="000000"/>
              </a:buClr>
              <a:buSzPts val="4000"/>
              <a:buFont typeface="Arial"/>
              <a:buNone/>
            </a:pPr>
            <a:r>
              <a:rPr b="0" i="0" lang="en" sz="4000" u="none" cap="none" strike="noStrike">
                <a:solidFill>
                  <a:schemeClr val="accent2"/>
                </a:solidFill>
                <a:highlight>
                  <a:schemeClr val="lt1"/>
                </a:highlight>
                <a:latin typeface="Atkinson Hyperlegible"/>
                <a:ea typeface="Atkinson Hyperlegible"/>
                <a:cs typeface="Atkinson Hyperlegible"/>
                <a:sym typeface="Atkinson Hyperlegible"/>
              </a:rPr>
              <a:t>M.I.C.E. Writing Guide</a:t>
            </a:r>
            <a:br>
              <a:rPr b="0" i="0" lang="en" sz="4000" u="none" cap="none" strike="noStrike">
                <a:solidFill>
                  <a:schemeClr val="accent2"/>
                </a:solidFill>
                <a:highlight>
                  <a:schemeClr val="lt1"/>
                </a:highlight>
                <a:latin typeface="Atkinson Hyperlegible"/>
                <a:ea typeface="Atkinson Hyperlegible"/>
                <a:cs typeface="Atkinson Hyperlegible"/>
                <a:sym typeface="Atkinson Hyperlegible"/>
              </a:rPr>
            </a:br>
            <a:endParaRPr b="0" i="0" sz="3000" u="none" cap="none" strike="noStrike">
              <a:solidFill>
                <a:schemeClr val="accen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What’s your M.I.C.E. argument? </a:t>
            </a:r>
            <a:endParaRPr b="1" sz="2120">
              <a:solidFill>
                <a:schemeClr val="accent6"/>
              </a:solidFill>
              <a:latin typeface="Atkinson Hyperlegible"/>
              <a:ea typeface="Atkinson Hyperlegible"/>
              <a:cs typeface="Atkinson Hyperlegible"/>
              <a:sym typeface="Atkinson Hyperlegible"/>
            </a:endParaRPr>
          </a:p>
        </p:txBody>
      </p:sp>
      <p:sp>
        <p:nvSpPr>
          <p:cNvPr id="65" name="Google Shape;65;p14"/>
          <p:cNvSpPr txBox="1"/>
          <p:nvPr>
            <p:ph idx="1" type="body"/>
          </p:nvPr>
        </p:nvSpPr>
        <p:spPr>
          <a:xfrm>
            <a:off x="311700" y="903225"/>
            <a:ext cx="8520600" cy="3797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SzPts val="1800"/>
              <a:buNone/>
            </a:pPr>
            <a:r>
              <a:rPr lang="en">
                <a:solidFill>
                  <a:schemeClr val="lt1"/>
                </a:solidFill>
                <a:latin typeface="Atkinson Hyperlegible"/>
                <a:ea typeface="Atkinson Hyperlegible"/>
                <a:cs typeface="Atkinson Hyperlegible"/>
                <a:sym typeface="Atkinson Hyperlegible"/>
              </a:rPr>
              <a:t>Our project is centered on the core message, trains are better than cars because metros more efficiently suites the transportation demand of a large population, more environmentally friendly, and uniquely leads to the development of new communities. The goal is to convert a vast city where cars are the main method of transportation to a </a:t>
            </a:r>
            <a:r>
              <a:rPr lang="en" u="sng">
                <a:solidFill>
                  <a:schemeClr val="lt1"/>
                </a:solidFill>
                <a:latin typeface="Atkinson Hyperlegible"/>
                <a:ea typeface="Atkinson Hyperlegible"/>
                <a:cs typeface="Atkinson Hyperlegible"/>
                <a:sym typeface="Atkinson Hyperlegible"/>
              </a:rPr>
              <a:t>walkable</a:t>
            </a:r>
            <a:r>
              <a:rPr lang="en">
                <a:solidFill>
                  <a:schemeClr val="lt1"/>
                </a:solidFill>
                <a:latin typeface="Atkinson Hyperlegible"/>
                <a:ea typeface="Atkinson Hyperlegible"/>
                <a:cs typeface="Atkinson Hyperlegible"/>
                <a:sym typeface="Atkinson Hyperlegible"/>
              </a:rPr>
              <a:t> city with a robust metro system. Through this simple idea, we intend to hint at other underlying themes such as the conflict between community and individual interests, (specifically to which extent we ought to expect individuals to sacrifice their own interest), the relationship between the government and transportation investment, and the impact of transportation on both the human and natural environment. We want to show that trains are </a:t>
            </a:r>
            <a:r>
              <a:rPr lang="en" u="sng">
                <a:solidFill>
                  <a:schemeClr val="lt1"/>
                </a:solidFill>
                <a:latin typeface="Atkinson Hyperlegible"/>
                <a:ea typeface="Atkinson Hyperlegible"/>
                <a:cs typeface="Atkinson Hyperlegible"/>
                <a:sym typeface="Atkinson Hyperlegible"/>
              </a:rPr>
              <a:t>more efficient for large populations</a:t>
            </a:r>
            <a:r>
              <a:rPr lang="en">
                <a:solidFill>
                  <a:schemeClr val="lt1"/>
                </a:solidFill>
                <a:latin typeface="Atkinson Hyperlegible"/>
                <a:ea typeface="Atkinson Hyperlegible"/>
                <a:cs typeface="Atkinson Hyperlegible"/>
                <a:sym typeface="Atkinson Hyperlegible"/>
              </a:rPr>
              <a:t>, </a:t>
            </a:r>
            <a:r>
              <a:rPr lang="en" u="sng">
                <a:solidFill>
                  <a:schemeClr val="lt1"/>
                </a:solidFill>
                <a:latin typeface="Atkinson Hyperlegible"/>
                <a:ea typeface="Atkinson Hyperlegible"/>
                <a:cs typeface="Atkinson Hyperlegible"/>
                <a:sym typeface="Atkinson Hyperlegible"/>
              </a:rPr>
              <a:t>more cost effective for cities</a:t>
            </a:r>
            <a:r>
              <a:rPr lang="en">
                <a:solidFill>
                  <a:schemeClr val="lt1"/>
                </a:solidFill>
                <a:latin typeface="Atkinson Hyperlegible"/>
                <a:ea typeface="Atkinson Hyperlegible"/>
                <a:cs typeface="Atkinson Hyperlegible"/>
                <a:sym typeface="Atkinson Hyperlegible"/>
              </a:rPr>
              <a:t>, </a:t>
            </a:r>
            <a:r>
              <a:rPr lang="en" u="sng">
                <a:solidFill>
                  <a:schemeClr val="lt1"/>
                </a:solidFill>
                <a:latin typeface="Atkinson Hyperlegible"/>
                <a:ea typeface="Atkinson Hyperlegible"/>
                <a:cs typeface="Atkinson Hyperlegible"/>
                <a:sym typeface="Atkinson Hyperlegible"/>
              </a:rPr>
              <a:t>more robust and urban friendly than cars</a:t>
            </a:r>
            <a:r>
              <a:rPr lang="en">
                <a:solidFill>
                  <a:schemeClr val="lt1"/>
                </a:solidFill>
                <a:latin typeface="Atkinson Hyperlegible"/>
                <a:ea typeface="Atkinson Hyperlegible"/>
                <a:cs typeface="Atkinson Hyperlegible"/>
                <a:sym typeface="Atkinson Hyperlegible"/>
              </a:rPr>
              <a:t>, </a:t>
            </a:r>
            <a:r>
              <a:rPr lang="en" u="sng">
                <a:solidFill>
                  <a:schemeClr val="lt1"/>
                </a:solidFill>
                <a:latin typeface="Atkinson Hyperlegible"/>
                <a:ea typeface="Atkinson Hyperlegible"/>
                <a:cs typeface="Atkinson Hyperlegible"/>
                <a:sym typeface="Atkinson Hyperlegible"/>
              </a:rPr>
              <a:t>more environmentally friendly</a:t>
            </a:r>
            <a:r>
              <a:rPr lang="en">
                <a:solidFill>
                  <a:schemeClr val="lt1"/>
                </a:solidFill>
                <a:latin typeface="Atkinson Hyperlegible"/>
                <a:ea typeface="Atkinson Hyperlegible"/>
                <a:cs typeface="Atkinson Hyperlegible"/>
                <a:sym typeface="Atkinson Hyperlegible"/>
              </a:rPr>
              <a:t>, and </a:t>
            </a:r>
            <a:r>
              <a:rPr lang="en" u="sng">
                <a:solidFill>
                  <a:schemeClr val="lt1"/>
                </a:solidFill>
                <a:latin typeface="Atkinson Hyperlegible"/>
                <a:ea typeface="Atkinson Hyperlegible"/>
                <a:cs typeface="Atkinson Hyperlegible"/>
                <a:sym typeface="Atkinson Hyperlegible"/>
              </a:rPr>
              <a:t>more beneficial for the wellbeing of their passengers</a:t>
            </a:r>
            <a:r>
              <a:rPr lang="en">
                <a:solidFill>
                  <a:schemeClr val="lt1"/>
                </a:solidFill>
                <a:latin typeface="Atkinson Hyperlegible"/>
                <a:ea typeface="Atkinson Hyperlegible"/>
                <a:cs typeface="Atkinson Hyperlegible"/>
                <a:sym typeface="Atkinson Hyperlegible"/>
              </a:rPr>
              <a:t>.</a:t>
            </a:r>
            <a:endParaRPr>
              <a:solidFill>
                <a:schemeClr val="lt1"/>
              </a:solidFill>
              <a:latin typeface="Atkinson Hyperlegible"/>
              <a:ea typeface="Atkinson Hyperlegible"/>
              <a:cs typeface="Atkinson Hyperlegible"/>
              <a:sym typeface="Atkinson Hyperlegibl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How do the individual elements of your M.I.C.E. relate to your argument? </a:t>
            </a:r>
            <a:endParaRPr b="1" sz="2120">
              <a:solidFill>
                <a:schemeClr val="accent6"/>
              </a:solidFill>
              <a:latin typeface="Atkinson Hyperlegible"/>
              <a:ea typeface="Atkinson Hyperlegible"/>
              <a:cs typeface="Atkinson Hyperlegible"/>
              <a:sym typeface="Atkinson Hyperlegible"/>
            </a:endParaRPr>
          </a:p>
        </p:txBody>
      </p:sp>
      <p:sp>
        <p:nvSpPr>
          <p:cNvPr id="71" name="Google Shape;71;p15"/>
          <p:cNvSpPr txBox="1"/>
          <p:nvPr>
            <p:ph idx="1" type="body"/>
          </p:nvPr>
        </p:nvSpPr>
        <p:spPr>
          <a:xfrm>
            <a:off x="311700" y="1149425"/>
            <a:ext cx="8520600" cy="35508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SzPct val="100000"/>
              <a:buNone/>
            </a:pPr>
            <a:r>
              <a:rPr b="1" lang="en">
                <a:solidFill>
                  <a:schemeClr val="lt1"/>
                </a:solidFill>
                <a:latin typeface="Atkinson Hyperlegible"/>
                <a:ea typeface="Atkinson Hyperlegible"/>
                <a:cs typeface="Atkinson Hyperlegible"/>
                <a:sym typeface="Atkinson Hyperlegible"/>
              </a:rPr>
              <a:t>Plot/Choices</a:t>
            </a:r>
            <a:r>
              <a:rPr lang="en">
                <a:solidFill>
                  <a:schemeClr val="lt1"/>
                </a:solidFill>
                <a:latin typeface="Atkinson Hyperlegible"/>
                <a:ea typeface="Atkinson Hyperlegible"/>
                <a:cs typeface="Atkinson Hyperlegible"/>
                <a:sym typeface="Atkinson Hyperlegible"/>
              </a:rPr>
              <a:t>: The player takes the place of a city train company owner, who works to beat out the car company as the choice of transportation in the city.</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b="1" lang="en">
                <a:solidFill>
                  <a:schemeClr val="lt1"/>
                </a:solidFill>
                <a:latin typeface="Atkinson Hyperlegible"/>
                <a:ea typeface="Atkinson Hyperlegible"/>
                <a:cs typeface="Atkinson Hyperlegible"/>
                <a:sym typeface="Atkinson Hyperlegible"/>
              </a:rPr>
              <a:t>Engineering/Gameplay</a:t>
            </a:r>
            <a:r>
              <a:rPr lang="en">
                <a:solidFill>
                  <a:schemeClr val="lt1"/>
                </a:solidFill>
                <a:latin typeface="Atkinson Hyperlegible"/>
                <a:ea typeface="Atkinson Hyperlegible"/>
                <a:cs typeface="Atkinson Hyperlegible"/>
                <a:sym typeface="Atkinson Hyperlegible"/>
              </a:rPr>
              <a:t>: Most functions are in the form of transactions, making purchases and improvements for the company. The player also develops the metro network over time, which simulates the gradual expansion of a metro in real life.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b="1" lang="en">
                <a:solidFill>
                  <a:schemeClr val="lt1"/>
                </a:solidFill>
                <a:latin typeface="Atkinson Hyperlegible"/>
                <a:ea typeface="Atkinson Hyperlegible"/>
                <a:cs typeface="Atkinson Hyperlegible"/>
                <a:sym typeface="Atkinson Hyperlegible"/>
              </a:rPr>
              <a:t>Visual Elements</a:t>
            </a:r>
            <a:r>
              <a:rPr lang="en">
                <a:solidFill>
                  <a:schemeClr val="lt1"/>
                </a:solidFill>
                <a:latin typeface="Atkinson Hyperlegible"/>
                <a:ea typeface="Atkinson Hyperlegible"/>
                <a:cs typeface="Atkinson Hyperlegible"/>
                <a:sym typeface="Atkinson Hyperlegible"/>
              </a:rPr>
              <a:t>: </a:t>
            </a:r>
            <a:endParaRPr>
              <a:solidFill>
                <a:schemeClr val="lt1"/>
              </a:solidFill>
              <a:latin typeface="Atkinson Hyperlegible"/>
              <a:ea typeface="Atkinson Hyperlegible"/>
              <a:cs typeface="Atkinson Hyperlegible"/>
              <a:sym typeface="Atkinson Hyperlegible"/>
            </a:endParaRPr>
          </a:p>
          <a:p>
            <a:pPr indent="-308610" lvl="0" marL="457200" rtl="0" algn="l">
              <a:lnSpc>
                <a:spcPct val="115000"/>
              </a:lnSpc>
              <a:spcBef>
                <a:spcPts val="1200"/>
              </a:spcBef>
              <a:spcAft>
                <a:spcPts val="0"/>
              </a:spcAft>
              <a:buClr>
                <a:schemeClr val="lt1"/>
              </a:buClr>
              <a:buSzPct val="100000"/>
              <a:buFont typeface="Atkinson Hyperlegible"/>
              <a:buChar char="●"/>
            </a:pPr>
            <a:r>
              <a:rPr lang="en">
                <a:solidFill>
                  <a:schemeClr val="lt1"/>
                </a:solidFill>
                <a:latin typeface="Atkinson Hyperlegible"/>
                <a:ea typeface="Atkinson Hyperlegible"/>
                <a:cs typeface="Atkinson Hyperlegible"/>
                <a:sym typeface="Atkinson Hyperlegible"/>
              </a:rPr>
              <a:t>Overall Style: Minimalist, Modern</a:t>
            </a:r>
            <a:endParaRPr>
              <a:solidFill>
                <a:schemeClr val="lt1"/>
              </a:solidFill>
              <a:latin typeface="Atkinson Hyperlegible"/>
              <a:ea typeface="Atkinson Hyperlegible"/>
              <a:cs typeface="Atkinson Hyperlegible"/>
              <a:sym typeface="Atkinson Hyperlegible"/>
            </a:endParaRPr>
          </a:p>
          <a:p>
            <a:pPr indent="-308610" lvl="0" marL="457200" rtl="0" algn="l">
              <a:lnSpc>
                <a:spcPct val="115000"/>
              </a:lnSpc>
              <a:spcBef>
                <a:spcPts val="0"/>
              </a:spcBef>
              <a:spcAft>
                <a:spcPts val="0"/>
              </a:spcAft>
              <a:buClr>
                <a:schemeClr val="lt1"/>
              </a:buClr>
              <a:buSzPct val="100000"/>
              <a:buFont typeface="Atkinson Hyperlegible"/>
              <a:buChar char="●"/>
            </a:pPr>
            <a:r>
              <a:rPr lang="en">
                <a:solidFill>
                  <a:schemeClr val="lt1"/>
                </a:solidFill>
                <a:latin typeface="Atkinson Hyperlegible"/>
                <a:ea typeface="Atkinson Hyperlegible"/>
                <a:cs typeface="Atkinson Hyperlegible"/>
                <a:sym typeface="Atkinson Hyperlegible"/>
              </a:rPr>
              <a:t>Character/assets design:</a:t>
            </a:r>
            <a:endParaRPr>
              <a:solidFill>
                <a:schemeClr val="lt1"/>
              </a:solidFill>
              <a:latin typeface="Atkinson Hyperlegible"/>
              <a:ea typeface="Atkinson Hyperlegible"/>
              <a:cs typeface="Atkinson Hyperlegible"/>
              <a:sym typeface="Atkinson Hyperlegible"/>
            </a:endParaRPr>
          </a:p>
          <a:p>
            <a:pPr indent="-308610" lvl="0" marL="457200" rtl="0" algn="l">
              <a:lnSpc>
                <a:spcPct val="115000"/>
              </a:lnSpc>
              <a:spcBef>
                <a:spcPts val="0"/>
              </a:spcBef>
              <a:spcAft>
                <a:spcPts val="0"/>
              </a:spcAft>
              <a:buClr>
                <a:schemeClr val="lt1"/>
              </a:buClr>
              <a:buSzPct val="100000"/>
              <a:buFont typeface="Atkinson Hyperlegible"/>
              <a:buChar char="●"/>
            </a:pPr>
            <a:r>
              <a:rPr lang="en">
                <a:solidFill>
                  <a:schemeClr val="lt1"/>
                </a:solidFill>
                <a:latin typeface="Atkinson Hyperlegible"/>
                <a:ea typeface="Atkinson Hyperlegible"/>
                <a:cs typeface="Atkinson Hyperlegible"/>
                <a:sym typeface="Atkinson Hyperlegible"/>
              </a:rPr>
              <a:t>Environment design: (Maybe have an environmental setting for the city: in the forest, by the sea, across a bunch of islands, etc.)</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b="1" lang="en">
                <a:solidFill>
                  <a:schemeClr val="lt1"/>
                </a:solidFill>
                <a:latin typeface="Atkinson Hyperlegible"/>
                <a:ea typeface="Atkinson Hyperlegible"/>
                <a:cs typeface="Atkinson Hyperlegible"/>
                <a:sym typeface="Atkinson Hyperlegible"/>
              </a:rPr>
              <a:t>Audio Elements</a:t>
            </a:r>
            <a:r>
              <a:rPr lang="en">
                <a:solidFill>
                  <a:schemeClr val="lt1"/>
                </a:solidFill>
                <a:latin typeface="Atkinson Hyperlegible"/>
                <a:ea typeface="Atkinson Hyperlegible"/>
                <a:cs typeface="Atkinson Hyperlegible"/>
                <a:sym typeface="Atkinson Hyperlegible"/>
              </a:rPr>
              <a:t>: The sound of the train, car, and sound effect. Also, a Lofi background music. Perhaps adopt layering techniques to make the transitions more smooth.</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SzPct val="100000"/>
              <a:buNone/>
            </a:pPr>
            <a:r>
              <a:rPr b="1" lang="en">
                <a:solidFill>
                  <a:schemeClr val="lt1"/>
                </a:solidFill>
                <a:latin typeface="Atkinson Hyperlegible"/>
                <a:ea typeface="Atkinson Hyperlegible"/>
                <a:cs typeface="Atkinson Hyperlegible"/>
                <a:sym typeface="Atkinson Hyperlegible"/>
              </a:rPr>
              <a:t>Narration/Dialogue</a:t>
            </a:r>
            <a:r>
              <a:rPr lang="en">
                <a:solidFill>
                  <a:schemeClr val="lt1"/>
                </a:solidFill>
                <a:latin typeface="Atkinson Hyperlegible"/>
                <a:ea typeface="Atkinson Hyperlegible"/>
                <a:cs typeface="Atkinson Hyperlegible"/>
                <a:sym typeface="Atkinson Hyperlegible"/>
              </a:rPr>
              <a:t>: The narration will document the cause and effects of player’s actions through the form of news announcements.</a:t>
            </a:r>
            <a:endParaRPr>
              <a:solidFill>
                <a:schemeClr val="lt1"/>
              </a:solidFill>
              <a:latin typeface="Atkinson Hyperlegible"/>
              <a:ea typeface="Atkinson Hyperlegible"/>
              <a:cs typeface="Atkinson Hyperlegible"/>
              <a:sym typeface="Atkinson Hyperlegibl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MICE Argument Development Workshop  </a:t>
            </a:r>
            <a:endParaRPr b="1" sz="2320">
              <a:solidFill>
                <a:schemeClr val="accent6"/>
              </a:solidFill>
              <a:latin typeface="Atkinson Hyperlegible"/>
              <a:ea typeface="Atkinson Hyperlegible"/>
              <a:cs typeface="Atkinson Hyperlegible"/>
              <a:sym typeface="Atkinson Hyperlegible"/>
            </a:endParaRPr>
          </a:p>
          <a:p>
            <a:pPr indent="0" lvl="0" marL="0" rtl="0" algn="l">
              <a:lnSpc>
                <a:spcPct val="100000"/>
              </a:lnSpc>
              <a:spcBef>
                <a:spcPts val="0"/>
              </a:spcBef>
              <a:spcAft>
                <a:spcPts val="0"/>
              </a:spcAft>
              <a:buSzPts val="990"/>
              <a:buNone/>
            </a:pPr>
            <a:r>
              <a:t/>
            </a:r>
            <a:endParaRPr sz="2320">
              <a:solidFill>
                <a:schemeClr val="accent6"/>
              </a:solidFill>
              <a:latin typeface="Atkinson Hyperlegible"/>
              <a:ea typeface="Atkinson Hyperlegible"/>
              <a:cs typeface="Atkinson Hyperlegible"/>
              <a:sym typeface="Atkinson Hyperlegible"/>
            </a:endParaRPr>
          </a:p>
          <a:p>
            <a:pPr indent="0" lvl="0" marL="0" rtl="0" algn="l">
              <a:lnSpc>
                <a:spcPct val="100000"/>
              </a:lnSpc>
              <a:spcBef>
                <a:spcPts val="0"/>
              </a:spcBef>
              <a:spcAft>
                <a:spcPts val="0"/>
              </a:spcAft>
              <a:buSzPts val="990"/>
              <a:buNone/>
            </a:pPr>
            <a:r>
              <a:rPr lang="en" sz="2320">
                <a:solidFill>
                  <a:schemeClr val="accent6"/>
                </a:solidFill>
                <a:latin typeface="Atkinson Hyperlegible"/>
                <a:ea typeface="Atkinson Hyperlegible"/>
                <a:cs typeface="Atkinson Hyperlegible"/>
                <a:sym typeface="Atkinson Hyperlegible"/>
              </a:rPr>
              <a:t> </a:t>
            </a:r>
            <a:endParaRPr sz="2320">
              <a:solidFill>
                <a:schemeClr val="accent6"/>
              </a:solidFill>
              <a:latin typeface="Atkinson Hyperlegible"/>
              <a:ea typeface="Atkinson Hyperlegible"/>
              <a:cs typeface="Atkinson Hyperlegible"/>
              <a:sym typeface="Atkinson Hyperlegible"/>
            </a:endParaRPr>
          </a:p>
        </p:txBody>
      </p:sp>
      <p:sp>
        <p:nvSpPr>
          <p:cNvPr id="77" name="Google Shape;77;p16"/>
          <p:cNvSpPr txBox="1"/>
          <p:nvPr>
            <p:ph idx="1" type="body"/>
          </p:nvPr>
        </p:nvSpPr>
        <p:spPr>
          <a:xfrm>
            <a:off x="311700" y="903225"/>
            <a:ext cx="8520600" cy="3798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Is the argument clear? Does it feel realistic/reasonable?</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Is the argument specific enough to be addressed in a short Construct 3 game, not a book, dissertation, or commercial studio-made game?  Can you make this argument in the amount of time allotted and with the resources at your disposal? </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Is the argument reasonably complex and surprising? Does it reflect the complexity of your own experiences? Does it resist clichés and platitudes to get at something more truthful?</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Do the individual elements of the M.I.C.E. make sense re: the argument? What elements could be improved? Simplified/clarified? Added? Cut? </a:t>
            </a:r>
            <a:endParaRPr>
              <a:solidFill>
                <a:schemeClr val="lt1"/>
              </a:solidFill>
              <a:latin typeface="Atkinson Hyperlegible"/>
              <a:ea typeface="Atkinson Hyperlegible"/>
              <a:cs typeface="Atkinson Hyperlegible"/>
              <a:sym typeface="Atkinson Hyperlegibl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 name="Shape 81"/>
        <p:cNvGrpSpPr/>
        <p:nvPr/>
      </p:nvGrpSpPr>
      <p:grpSpPr>
        <a:xfrm>
          <a:off x="0" y="0"/>
          <a:ext cx="0" cy="0"/>
          <a:chOff x="0" y="0"/>
          <a:chExt cx="0" cy="0"/>
        </a:xfrm>
      </p:grpSpPr>
      <p:sp>
        <p:nvSpPr>
          <p:cNvPr id="82" name="Google Shape;82;p17"/>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What kind of writing do you want to feature in your M.I.C.E? </a:t>
            </a:r>
            <a:endParaRPr b="1" sz="2120">
              <a:solidFill>
                <a:schemeClr val="accent6"/>
              </a:solidFill>
              <a:latin typeface="Atkinson Hyperlegible"/>
              <a:ea typeface="Atkinson Hyperlegible"/>
              <a:cs typeface="Atkinson Hyperlegible"/>
              <a:sym typeface="Atkinson Hyperlegible"/>
            </a:endParaRPr>
          </a:p>
        </p:txBody>
      </p:sp>
      <p:sp>
        <p:nvSpPr>
          <p:cNvPr id="83" name="Google Shape;83;p17"/>
          <p:cNvSpPr txBox="1"/>
          <p:nvPr>
            <p:ph idx="1" type="body"/>
          </p:nvPr>
        </p:nvSpPr>
        <p:spPr>
          <a:xfrm>
            <a:off x="311700" y="903225"/>
            <a:ext cx="8520600" cy="4119000"/>
          </a:xfrm>
          <a:prstGeom prst="rect">
            <a:avLst/>
          </a:prstGeom>
          <a:noFill/>
          <a:ln>
            <a:noFill/>
          </a:ln>
        </p:spPr>
        <p:txBody>
          <a:bodyPr anchorCtr="0" anchor="t" bIns="91425" lIns="91425" spcFirstLastPara="1" rIns="91425" wrap="square" tIns="91425">
            <a:normAutofit fontScale="92500"/>
          </a:bodyPr>
          <a:lstStyle/>
          <a:p>
            <a:pPr indent="-334327"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Is there a </a:t>
            </a:r>
            <a:r>
              <a:rPr b="1" lang="en">
                <a:solidFill>
                  <a:schemeClr val="lt1"/>
                </a:solidFill>
                <a:latin typeface="Atkinson Hyperlegible"/>
                <a:ea typeface="Atkinson Hyperlegible"/>
                <a:cs typeface="Atkinson Hyperlegible"/>
                <a:sym typeface="Atkinson Hyperlegible"/>
              </a:rPr>
              <a:t>narrator</a:t>
            </a:r>
            <a:r>
              <a:rPr lang="en">
                <a:solidFill>
                  <a:schemeClr val="lt1"/>
                </a:solidFill>
                <a:latin typeface="Atkinson Hyperlegible"/>
                <a:ea typeface="Atkinson Hyperlegible"/>
                <a:cs typeface="Atkinson Hyperlegible"/>
                <a:sym typeface="Atkinson Hyperlegible"/>
              </a:rPr>
              <a:t> in your game? How will you tell the story? </a:t>
            </a:r>
            <a:br>
              <a:rPr lang="en">
                <a:solidFill>
                  <a:schemeClr val="lt1"/>
                </a:solidFill>
                <a:latin typeface="Atkinson Hyperlegible"/>
                <a:ea typeface="Atkinson Hyperlegible"/>
                <a:cs typeface="Atkinson Hyperlegible"/>
                <a:sym typeface="Atkinson Hyperlegible"/>
              </a:rPr>
            </a:br>
            <a:r>
              <a:rPr lang="en">
                <a:solidFill>
                  <a:schemeClr val="accent5"/>
                </a:solidFill>
                <a:latin typeface="Atkinson Hyperlegible"/>
                <a:ea typeface="Atkinson Hyperlegible"/>
                <a:cs typeface="Atkinson Hyperlegible"/>
                <a:sym typeface="Atkinson Hyperlegible"/>
              </a:rPr>
              <a:t>Our narration comes in the form of news updates the player will receive, telling them about events going on in the world of the game, grounding them in the setting</a:t>
            </a:r>
            <a:br>
              <a:rPr lang="en">
                <a:solidFill>
                  <a:schemeClr val="lt1"/>
                </a:solidFill>
                <a:latin typeface="Atkinson Hyperlegible"/>
                <a:ea typeface="Atkinson Hyperlegible"/>
                <a:cs typeface="Atkinson Hyperlegible"/>
                <a:sym typeface="Atkinson Hyperlegible"/>
              </a:rPr>
            </a:br>
            <a:endParaRPr>
              <a:solidFill>
                <a:schemeClr val="lt1"/>
              </a:solidFill>
              <a:latin typeface="Atkinson Hyperlegible"/>
              <a:ea typeface="Atkinson Hyperlegible"/>
              <a:cs typeface="Atkinson Hyperlegible"/>
              <a:sym typeface="Atkinson Hyperlegible"/>
            </a:endParaRPr>
          </a:p>
          <a:p>
            <a:pPr indent="-334327"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Will there be </a:t>
            </a:r>
            <a:r>
              <a:rPr b="1" lang="en">
                <a:solidFill>
                  <a:schemeClr val="lt1"/>
                </a:solidFill>
                <a:latin typeface="Atkinson Hyperlegible"/>
                <a:ea typeface="Atkinson Hyperlegible"/>
                <a:cs typeface="Atkinson Hyperlegible"/>
                <a:sym typeface="Atkinson Hyperlegible"/>
              </a:rPr>
              <a:t>instructions</a:t>
            </a:r>
            <a:r>
              <a:rPr lang="en">
                <a:solidFill>
                  <a:schemeClr val="lt1"/>
                </a:solidFill>
                <a:latin typeface="Atkinson Hyperlegible"/>
                <a:ea typeface="Atkinson Hyperlegible"/>
                <a:cs typeface="Atkinson Hyperlegible"/>
                <a:sym typeface="Atkinson Hyperlegible"/>
              </a:rPr>
              <a:t> that the player needs to follow? Will the narrator deliver these instructions, or will there be a separate voice that gives instructions? </a:t>
            </a:r>
            <a:br>
              <a:rPr lang="en">
                <a:solidFill>
                  <a:schemeClr val="lt1"/>
                </a:solidFill>
                <a:latin typeface="Atkinson Hyperlegible"/>
                <a:ea typeface="Atkinson Hyperlegible"/>
                <a:cs typeface="Atkinson Hyperlegible"/>
                <a:sym typeface="Atkinson Hyperlegible"/>
              </a:rPr>
            </a:br>
            <a:r>
              <a:rPr lang="en">
                <a:solidFill>
                  <a:schemeClr val="accent5"/>
                </a:solidFill>
                <a:latin typeface="Atkinson Hyperlegible"/>
                <a:ea typeface="Atkinson Hyperlegible"/>
                <a:cs typeface="Atkinson Hyperlegible"/>
                <a:sym typeface="Atkinson Hyperlegible"/>
              </a:rPr>
              <a:t>The core game loop consists of building tracks to connect stations, managing currency, and generating popularity to monopolize public transportation. There will be news announcements as mentioned in the “narrator” section above. </a:t>
            </a:r>
            <a:endParaRPr>
              <a:solidFill>
                <a:schemeClr val="accent5"/>
              </a:solidFill>
              <a:latin typeface="Atkinson Hyperlegible"/>
              <a:ea typeface="Atkinson Hyperlegible"/>
              <a:cs typeface="Atkinson Hyperlegible"/>
              <a:sym typeface="Atkinson Hyperlegible"/>
            </a:endParaRPr>
          </a:p>
          <a:p>
            <a:pPr indent="-334327"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Will the characters in your M.I.C.E. speak? If so, how many </a:t>
            </a:r>
            <a:r>
              <a:rPr b="1" lang="en">
                <a:solidFill>
                  <a:schemeClr val="lt1"/>
                </a:solidFill>
                <a:latin typeface="Atkinson Hyperlegible"/>
                <a:ea typeface="Atkinson Hyperlegible"/>
                <a:cs typeface="Atkinson Hyperlegible"/>
                <a:sym typeface="Atkinson Hyperlegible"/>
              </a:rPr>
              <a:t>dialogue</a:t>
            </a:r>
            <a:r>
              <a:rPr lang="en">
                <a:solidFill>
                  <a:schemeClr val="lt1"/>
                </a:solidFill>
                <a:latin typeface="Atkinson Hyperlegible"/>
                <a:ea typeface="Atkinson Hyperlegible"/>
                <a:cs typeface="Atkinson Hyperlegible"/>
                <a:sym typeface="Atkinson Hyperlegible"/>
              </a:rPr>
              <a:t> characters will there be? List them below. </a:t>
            </a:r>
            <a:endParaRPr>
              <a:solidFill>
                <a:schemeClr val="lt1"/>
              </a:solidFill>
              <a:latin typeface="Atkinson Hyperlegible"/>
              <a:ea typeface="Atkinson Hyperlegible"/>
              <a:cs typeface="Atkinson Hyperlegible"/>
              <a:sym typeface="Atkinson Hyperlegible"/>
            </a:endParaRPr>
          </a:p>
          <a:p>
            <a:pPr indent="0" lvl="0" marL="457200" rtl="0" algn="l">
              <a:lnSpc>
                <a:spcPct val="115000"/>
              </a:lnSpc>
              <a:spcBef>
                <a:spcPts val="0"/>
              </a:spcBef>
              <a:spcAft>
                <a:spcPts val="0"/>
              </a:spcAft>
              <a:buNone/>
            </a:pPr>
            <a:r>
              <a:rPr lang="en">
                <a:solidFill>
                  <a:schemeClr val="accent5"/>
                </a:solidFill>
                <a:latin typeface="Atkinson Hyperlegible"/>
                <a:ea typeface="Atkinson Hyperlegible"/>
                <a:cs typeface="Atkinson Hyperlegible"/>
                <a:sym typeface="Atkinson Hyperlegible"/>
              </a:rPr>
              <a:t>The characters in the M.I.C.E will not speak, but instead there will be updates. </a:t>
            </a:r>
            <a:br>
              <a:rPr lang="en">
                <a:solidFill>
                  <a:schemeClr val="lt1"/>
                </a:solidFill>
                <a:latin typeface="Atkinson Hyperlegible"/>
                <a:ea typeface="Atkinson Hyperlegible"/>
                <a:cs typeface="Atkinson Hyperlegible"/>
                <a:sym typeface="Atkinson Hyperlegible"/>
              </a:rPr>
            </a:br>
            <a:endParaRPr>
              <a:solidFill>
                <a:schemeClr val="lt1"/>
              </a:solidFill>
              <a:latin typeface="Atkinson Hyperlegible"/>
              <a:ea typeface="Atkinson Hyperlegible"/>
              <a:cs typeface="Atkinson Hyperlegible"/>
              <a:sym typeface="Atkinson Hyperlegibl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 name="Shape 87"/>
        <p:cNvGrpSpPr/>
        <p:nvPr/>
      </p:nvGrpSpPr>
      <p:grpSpPr>
        <a:xfrm>
          <a:off x="0" y="0"/>
          <a:ext cx="0" cy="0"/>
          <a:chOff x="0" y="0"/>
          <a:chExt cx="0" cy="0"/>
        </a:xfrm>
      </p:grpSpPr>
      <p:sp>
        <p:nvSpPr>
          <p:cNvPr id="88" name="Google Shape;88;p18"/>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Dialogue Exercise: Read some comics!</a:t>
            </a:r>
            <a:endParaRPr b="1" sz="2120">
              <a:solidFill>
                <a:schemeClr val="accent6"/>
              </a:solidFill>
              <a:latin typeface="Atkinson Hyperlegible"/>
              <a:ea typeface="Atkinson Hyperlegible"/>
              <a:cs typeface="Atkinson Hyperlegible"/>
              <a:sym typeface="Atkinson Hyperlegible"/>
            </a:endParaRPr>
          </a:p>
        </p:txBody>
      </p:sp>
      <p:sp>
        <p:nvSpPr>
          <p:cNvPr id="89" name="Google Shape;89;p18"/>
          <p:cNvSpPr txBox="1"/>
          <p:nvPr>
            <p:ph idx="1" type="body"/>
          </p:nvPr>
        </p:nvSpPr>
        <p:spPr>
          <a:xfrm>
            <a:off x="311700" y="903225"/>
            <a:ext cx="8520600" cy="3797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lt1"/>
                </a:solidFill>
                <a:latin typeface="Atkinson Hyperlegible"/>
                <a:ea typeface="Atkinson Hyperlegible"/>
                <a:cs typeface="Atkinson Hyperlegible"/>
                <a:sym typeface="Atkinson Hyperlegible"/>
              </a:rPr>
              <a:t>Choose a comic from the stack on the front table. (It doesn’t matter what comic!) Read a few pages – you can start at the beginning, or open it up in the middle. The idea here isn’t to follow the story, but to pay attention to the dialogue.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ts val="1800"/>
              <a:buNone/>
            </a:pPr>
            <a:r>
              <a:rPr lang="en">
                <a:solidFill>
                  <a:schemeClr val="lt1"/>
                </a:solidFill>
                <a:latin typeface="Atkinson Hyperlegible"/>
                <a:ea typeface="Atkinson Hyperlegible"/>
                <a:cs typeface="Atkinson Hyperlegible"/>
                <a:sym typeface="Atkinson Hyperlegible"/>
              </a:rPr>
              <a:t>For each of the speaking characters, consider: </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120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What can you tell about the character through their appearance? </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What can you tell about them through dialogue? Do they remind you of anyone, real or fictional?</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0"/>
              </a:spcBef>
              <a:spcAft>
                <a:spcPts val="0"/>
              </a:spcAft>
              <a:buClr>
                <a:schemeClr val="lt1"/>
              </a:buClr>
              <a:buSzPts val="1800"/>
              <a:buFont typeface="Atkinson Hyperlegible"/>
              <a:buChar char="-"/>
            </a:pPr>
            <a:r>
              <a:rPr lang="en">
                <a:solidFill>
                  <a:schemeClr val="lt1"/>
                </a:solidFill>
                <a:latin typeface="Atkinson Hyperlegible"/>
                <a:ea typeface="Atkinson Hyperlegible"/>
                <a:cs typeface="Atkinson Hyperlegible"/>
                <a:sym typeface="Atkinson Hyperlegible"/>
              </a:rPr>
              <a:t>How is this character’s voice different from the other characters? How does the way their voice is written affect how you feel about them?</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SzPts val="1800"/>
              <a:buNone/>
            </a:pPr>
            <a:r>
              <a:t/>
            </a:r>
            <a:endParaRPr>
              <a:solidFill>
                <a:schemeClr val="lt1"/>
              </a:solidFill>
              <a:latin typeface="Atkinson Hyperlegible"/>
              <a:ea typeface="Atkinson Hyperlegible"/>
              <a:cs typeface="Atkinson Hyperlegible"/>
              <a:sym typeface="Atkinson Hyperlegibl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Narration </a:t>
            </a:r>
            <a:endParaRPr b="1" sz="2120">
              <a:solidFill>
                <a:schemeClr val="accent6"/>
              </a:solidFill>
              <a:latin typeface="Atkinson Hyperlegible"/>
              <a:ea typeface="Atkinson Hyperlegible"/>
              <a:cs typeface="Atkinson Hyperlegible"/>
              <a:sym typeface="Atkinson Hyperlegible"/>
            </a:endParaRPr>
          </a:p>
        </p:txBody>
      </p:sp>
      <p:sp>
        <p:nvSpPr>
          <p:cNvPr id="95" name="Google Shape;95;p19"/>
          <p:cNvSpPr txBox="1"/>
          <p:nvPr>
            <p:ph idx="1" type="body"/>
          </p:nvPr>
        </p:nvSpPr>
        <p:spPr>
          <a:xfrm>
            <a:off x="311700" y="903225"/>
            <a:ext cx="8520600" cy="3797100"/>
          </a:xfrm>
          <a:prstGeom prst="rect">
            <a:avLst/>
          </a:prstGeom>
          <a:noFill/>
          <a:ln>
            <a:noFill/>
          </a:ln>
        </p:spPr>
        <p:txBody>
          <a:bodyPr anchorCtr="0" anchor="t" bIns="91425" lIns="91425" spcFirstLastPara="1" rIns="91425" wrap="square" tIns="91425">
            <a:normAutofit fontScale="62500" lnSpcReduction="10000"/>
          </a:bodyPr>
          <a:lstStyle/>
          <a:p>
            <a:pPr indent="-300037"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What functions does the narration serve?</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29032"/>
              <a:buNone/>
            </a:pPr>
            <a:r>
              <a:rPr lang="en">
                <a:solidFill>
                  <a:schemeClr val="accent5"/>
                </a:solidFill>
                <a:latin typeface="Atkinson Hyperlegible"/>
                <a:ea typeface="Atkinson Hyperlegible"/>
                <a:cs typeface="Atkinson Hyperlegible"/>
                <a:sym typeface="Atkinson Hyperlegible"/>
              </a:rPr>
              <a:t>The narration gives feedback to the player and ground themselves in the world of our game. </a:t>
            </a:r>
            <a:endParaRPr>
              <a:solidFill>
                <a:schemeClr val="accent5"/>
              </a:solidFill>
              <a:latin typeface="Atkinson Hyperlegible"/>
              <a:ea typeface="Atkinson Hyperlegible"/>
              <a:cs typeface="Atkinson Hyperlegible"/>
              <a:sym typeface="Atkinson Hyperlegible"/>
            </a:endParaRPr>
          </a:p>
          <a:p>
            <a:pPr indent="-300037" lvl="0" marL="457200" rtl="0" algn="l">
              <a:lnSpc>
                <a:spcPct val="115000"/>
              </a:lnSpc>
              <a:spcBef>
                <a:spcPts val="120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What are the desired qualities of your narration? How do you want the narrator’s voice to sound?  Consider: is the narrator someone in the story (i.e., first person point of view, “It was a dark and stormy night when I entered the castle…” versus third person point of view, “It was a dark and stormy night when Princess Penelope entered the castle…”)</a:t>
            </a:r>
            <a:br>
              <a:rPr lang="en">
                <a:solidFill>
                  <a:schemeClr val="lt1"/>
                </a:solidFill>
                <a:latin typeface="Atkinson Hyperlegible"/>
                <a:ea typeface="Atkinson Hyperlegible"/>
                <a:cs typeface="Atkinson Hyperlegible"/>
                <a:sym typeface="Atkinson Hyperlegible"/>
              </a:rPr>
            </a:br>
            <a:br>
              <a:rPr lang="en">
                <a:solidFill>
                  <a:schemeClr val="lt1"/>
                </a:solidFill>
                <a:latin typeface="Atkinson Hyperlegible"/>
                <a:ea typeface="Atkinson Hyperlegible"/>
                <a:cs typeface="Atkinson Hyperlegible"/>
                <a:sym typeface="Atkinson Hyperlegible"/>
              </a:rPr>
            </a:br>
            <a:r>
              <a:rPr lang="en">
                <a:solidFill>
                  <a:schemeClr val="accent5"/>
                </a:solidFill>
                <a:latin typeface="Atkinson Hyperlegible"/>
                <a:ea typeface="Atkinson Hyperlegible"/>
                <a:cs typeface="Atkinson Hyperlegible"/>
                <a:sym typeface="Atkinson Hyperlegible"/>
              </a:rPr>
              <a:t>The narration will take an informative tone, presented in the form of news headlines. </a:t>
            </a:r>
            <a:br>
              <a:rPr lang="en">
                <a:solidFill>
                  <a:schemeClr val="accent5"/>
                </a:solidFill>
                <a:latin typeface="Atkinson Hyperlegible"/>
                <a:ea typeface="Atkinson Hyperlegible"/>
                <a:cs typeface="Atkinson Hyperlegible"/>
                <a:sym typeface="Atkinson Hyperlegible"/>
              </a:rPr>
            </a:br>
            <a:endParaRPr>
              <a:solidFill>
                <a:schemeClr val="accent5"/>
              </a:solidFill>
              <a:latin typeface="Atkinson Hyperlegible"/>
              <a:ea typeface="Atkinson Hyperlegible"/>
              <a:cs typeface="Atkinson Hyperlegible"/>
              <a:sym typeface="Atkinson Hyperlegible"/>
            </a:endParaRPr>
          </a:p>
          <a:p>
            <a:pPr indent="-300037"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Are there any references or models you’d like to base your narrator’s voice on? (Perhaps you want more of a Jeeves quality, or a storyteller-esque quality like the narrator in the Lord of the Rings.)</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29032"/>
              <a:buNone/>
            </a:pPr>
            <a:r>
              <a:rPr lang="en">
                <a:solidFill>
                  <a:schemeClr val="lt1"/>
                </a:solidFill>
                <a:latin typeface="Atkinson Hyperlegible"/>
                <a:ea typeface="Atkinson Hyperlegible"/>
                <a:cs typeface="Atkinson Hyperlegible"/>
                <a:sym typeface="Atkinson Hyperlegible"/>
              </a:rPr>
              <a:t>	</a:t>
            </a:r>
            <a:r>
              <a:rPr lang="en">
                <a:solidFill>
                  <a:schemeClr val="accent5"/>
                </a:solidFill>
                <a:latin typeface="Atkinson Hyperlegible"/>
                <a:ea typeface="Atkinson Hyperlegible"/>
                <a:cs typeface="Atkinson Hyperlegible"/>
                <a:sym typeface="Atkinson Hyperlegible"/>
              </a:rPr>
              <a:t>We are modeling the narration off of news articles and/or news tickers on TV news stations</a:t>
            </a:r>
            <a:endParaRPr>
              <a:solidFill>
                <a:schemeClr val="accent5"/>
              </a:solidFill>
              <a:latin typeface="Atkinson Hyperlegible"/>
              <a:ea typeface="Atkinson Hyperlegible"/>
              <a:cs typeface="Atkinson Hyperlegible"/>
              <a:sym typeface="Atkinson Hyperlegible"/>
            </a:endParaRPr>
          </a:p>
          <a:p>
            <a:pPr indent="-300037" lvl="0" marL="457200" rtl="0" algn="l">
              <a:lnSpc>
                <a:spcPct val="115000"/>
              </a:lnSpc>
              <a:spcBef>
                <a:spcPts val="120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Write a few lines of narration in your narrator’s voice.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29032"/>
              <a:buNone/>
            </a:pPr>
            <a:r>
              <a:rPr lang="en">
                <a:solidFill>
                  <a:schemeClr val="lt1"/>
                </a:solidFill>
                <a:latin typeface="Atkinson Hyperlegible"/>
                <a:ea typeface="Atkinson Hyperlegible"/>
                <a:cs typeface="Atkinson Hyperlegible"/>
                <a:sym typeface="Atkinson Hyperlegible"/>
              </a:rPr>
              <a:t>	</a:t>
            </a:r>
            <a:r>
              <a:rPr lang="en">
                <a:solidFill>
                  <a:schemeClr val="accent5"/>
                </a:solidFill>
                <a:latin typeface="Atkinson Hyperlegible"/>
                <a:ea typeface="Atkinson Hyperlegible"/>
                <a:cs typeface="Atkinson Hyperlegible"/>
                <a:sym typeface="Atkinson Hyperlegible"/>
              </a:rPr>
              <a:t>“The metro derailed…causing setbacks to the metro company. Popularity declined to 65%.”</a:t>
            </a:r>
            <a:endParaRPr>
              <a:solidFill>
                <a:schemeClr val="accent5"/>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SzPct val="129032"/>
              <a:buNone/>
            </a:pPr>
            <a:r>
              <a:rPr lang="en">
                <a:solidFill>
                  <a:schemeClr val="accent5"/>
                </a:solidFill>
                <a:latin typeface="Atkinson Hyperlegible"/>
                <a:ea typeface="Atkinson Hyperlegible"/>
                <a:cs typeface="Atkinson Hyperlegible"/>
                <a:sym typeface="Atkinson Hyperlegible"/>
              </a:rPr>
              <a:t>	“Increased traffic in the city is causing more citizens to shift towards relying on the new public transportation system.”</a:t>
            </a:r>
            <a:endParaRPr>
              <a:solidFill>
                <a:schemeClr val="accent5"/>
              </a:solidFill>
              <a:latin typeface="Atkinson Hyperlegible"/>
              <a:ea typeface="Atkinson Hyperlegible"/>
              <a:cs typeface="Atkinson Hyperlegible"/>
              <a:sym typeface="Atkinson Hyperlegibl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9" name="Shape 99"/>
        <p:cNvGrpSpPr/>
        <p:nvPr/>
      </p:nvGrpSpPr>
      <p:grpSpPr>
        <a:xfrm>
          <a:off x="0" y="0"/>
          <a:ext cx="0" cy="0"/>
          <a:chOff x="0" y="0"/>
          <a:chExt cx="0" cy="0"/>
        </a:xfrm>
      </p:grpSpPr>
      <p:sp>
        <p:nvSpPr>
          <p:cNvPr id="100" name="Google Shape;100;p20"/>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Instructions </a:t>
            </a:r>
            <a:endParaRPr b="1" sz="2120">
              <a:solidFill>
                <a:schemeClr val="accent6"/>
              </a:solidFill>
              <a:latin typeface="Atkinson Hyperlegible"/>
              <a:ea typeface="Atkinson Hyperlegible"/>
              <a:cs typeface="Atkinson Hyperlegible"/>
              <a:sym typeface="Atkinson Hyperlegible"/>
            </a:endParaRPr>
          </a:p>
        </p:txBody>
      </p:sp>
      <p:sp>
        <p:nvSpPr>
          <p:cNvPr id="101" name="Google Shape;101;p20"/>
          <p:cNvSpPr txBox="1"/>
          <p:nvPr>
            <p:ph idx="1" type="body"/>
          </p:nvPr>
        </p:nvSpPr>
        <p:spPr>
          <a:xfrm>
            <a:off x="311700" y="903225"/>
            <a:ext cx="8520600" cy="3797100"/>
          </a:xfrm>
          <a:prstGeom prst="rect">
            <a:avLst/>
          </a:prstGeom>
          <a:noFill/>
          <a:ln>
            <a:noFill/>
          </a:ln>
        </p:spPr>
        <p:txBody>
          <a:bodyPr anchorCtr="0" anchor="t" bIns="91425" lIns="91425" spcFirstLastPara="1" rIns="91425" wrap="square" tIns="91425">
            <a:normAutofit fontScale="70000"/>
          </a:bodyPr>
          <a:lstStyle/>
          <a:p>
            <a:pPr indent="-308610" lvl="0" marL="457200" rtl="0" algn="l">
              <a:lnSpc>
                <a:spcPct val="115000"/>
              </a:lnSpc>
              <a:spcBef>
                <a:spcPts val="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When you give instructions in the game, should this be in a different voice than your narrator’s? Why?</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lang="en">
                <a:solidFill>
                  <a:schemeClr val="accent5"/>
                </a:solidFill>
                <a:latin typeface="Atkinson Hyperlegible"/>
                <a:ea typeface="Atkinson Hyperlegible"/>
                <a:cs typeface="Atkinson Hyperlegible"/>
                <a:sym typeface="Atkinson Hyperlegible"/>
              </a:rPr>
              <a:t>	We are using the narrator to give instructions.</a:t>
            </a:r>
            <a:endParaRPr>
              <a:solidFill>
                <a:schemeClr val="accent5"/>
              </a:solidFill>
              <a:latin typeface="Atkinson Hyperlegible"/>
              <a:ea typeface="Atkinson Hyperlegible"/>
              <a:cs typeface="Atkinson Hyperlegible"/>
              <a:sym typeface="Atkinson Hyperlegible"/>
            </a:endParaRPr>
          </a:p>
          <a:p>
            <a:pPr indent="-308610" lvl="0" marL="457200" rtl="0" algn="l">
              <a:lnSpc>
                <a:spcPct val="115000"/>
              </a:lnSpc>
              <a:spcBef>
                <a:spcPts val="120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What are the desired qualities of your instructions? </a:t>
            </a:r>
            <a:endParaRPr>
              <a:solidFill>
                <a:schemeClr val="lt1"/>
              </a:solidFill>
              <a:latin typeface="Atkinson Hyperlegible"/>
              <a:ea typeface="Atkinson Hyperlegible"/>
              <a:cs typeface="Atkinson Hyperlegible"/>
              <a:sym typeface="Atkinson Hyperlegible"/>
            </a:endParaRPr>
          </a:p>
          <a:p>
            <a:pPr indent="-290830" lvl="1" marL="914400" rtl="0" algn="l">
              <a:lnSpc>
                <a:spcPct val="115000"/>
              </a:lnSpc>
              <a:spcBef>
                <a:spcPts val="0"/>
              </a:spcBef>
              <a:spcAft>
                <a:spcPts val="0"/>
              </a:spcAft>
              <a:buClr>
                <a:schemeClr val="lt1"/>
              </a:buClr>
              <a:buSzPct val="100000"/>
              <a:buFont typeface="Atkinson Hyperlegible"/>
              <a:buAutoNum type="alphaLcPeriod"/>
            </a:pPr>
            <a:r>
              <a:rPr lang="en">
                <a:solidFill>
                  <a:schemeClr val="lt1"/>
                </a:solidFill>
                <a:latin typeface="Atkinson Hyperlegible"/>
                <a:ea typeface="Atkinson Hyperlegible"/>
                <a:cs typeface="Atkinson Hyperlegible"/>
                <a:sym typeface="Atkinson Hyperlegible"/>
              </a:rPr>
              <a:t>Consider: Do you want your directions to be easy to follow? If so, choose a clear, neutral tone. Do you want your instructions to be purposefully difficult to follow? If so, choose your wording and syntax based on what you have difficulty understanding.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lang="en">
                <a:solidFill>
                  <a:schemeClr val="accent5"/>
                </a:solidFill>
                <a:latin typeface="Atkinson Hyperlegible"/>
                <a:ea typeface="Atkinson Hyperlegible"/>
                <a:cs typeface="Atkinson Hyperlegible"/>
                <a:sym typeface="Atkinson Hyperlegible"/>
              </a:rPr>
              <a:t>We want to teach the player how to play the game and push them towards the decisions they need to make to win. </a:t>
            </a:r>
            <a:endParaRPr>
              <a:solidFill>
                <a:schemeClr val="accent5"/>
              </a:solidFill>
              <a:latin typeface="Atkinson Hyperlegible"/>
              <a:ea typeface="Atkinson Hyperlegible"/>
              <a:cs typeface="Atkinson Hyperlegible"/>
              <a:sym typeface="Atkinson Hyperlegible"/>
            </a:endParaRPr>
          </a:p>
          <a:p>
            <a:pPr indent="-308610" lvl="0" marL="457200" rtl="0" algn="l">
              <a:lnSpc>
                <a:spcPct val="115000"/>
              </a:lnSpc>
              <a:spcBef>
                <a:spcPts val="1200"/>
              </a:spcBef>
              <a:spcAft>
                <a:spcPts val="0"/>
              </a:spcAft>
              <a:buClr>
                <a:schemeClr val="lt1"/>
              </a:buClr>
              <a:buSzPct val="100000"/>
              <a:buFont typeface="Atkinson Hyperlegible"/>
              <a:buAutoNum type="arabicPeriod"/>
            </a:pPr>
            <a:r>
              <a:rPr lang="en">
                <a:solidFill>
                  <a:schemeClr val="lt1"/>
                </a:solidFill>
                <a:latin typeface="Atkinson Hyperlegible"/>
                <a:ea typeface="Atkinson Hyperlegible"/>
                <a:cs typeface="Atkinson Hyperlegible"/>
                <a:sym typeface="Atkinson Hyperlegible"/>
              </a:rPr>
              <a:t>Write a few lines of instructions below.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ct val="100000"/>
              <a:buNone/>
            </a:pPr>
            <a:r>
              <a:rPr lang="en">
                <a:solidFill>
                  <a:schemeClr val="accent5"/>
                </a:solidFill>
                <a:latin typeface="Atkinson Hyperlegible"/>
                <a:ea typeface="Atkinson Hyperlegible"/>
                <a:cs typeface="Atkinson Hyperlegible"/>
                <a:sym typeface="Atkinson Hyperlegible"/>
              </a:rPr>
              <a:t>“The car company just developed better engines for their vehicles. How will you respond? </a:t>
            </a:r>
            <a:endParaRPr>
              <a:solidFill>
                <a:schemeClr val="accent5"/>
              </a:solidFill>
              <a:latin typeface="Atkinson Hyperlegible"/>
              <a:ea typeface="Atkinson Hyperlegible"/>
              <a:cs typeface="Atkinson Hyperlegible"/>
              <a:sym typeface="Atkinson Hyperlegible"/>
            </a:endParaRPr>
          </a:p>
          <a:p>
            <a:pPr indent="-308610" lvl="0" marL="457200" rtl="0" algn="l">
              <a:lnSpc>
                <a:spcPct val="115000"/>
              </a:lnSpc>
              <a:spcBef>
                <a:spcPts val="1200"/>
              </a:spcBef>
              <a:spcAft>
                <a:spcPts val="0"/>
              </a:spcAft>
              <a:buClr>
                <a:schemeClr val="accent5"/>
              </a:buClr>
              <a:buSzPct val="100000"/>
              <a:buFont typeface="Atkinson Hyperlegible"/>
              <a:buAutoNum type="alphaLcPeriod"/>
            </a:pPr>
            <a:r>
              <a:rPr lang="en">
                <a:solidFill>
                  <a:schemeClr val="accent5"/>
                </a:solidFill>
                <a:latin typeface="Atkinson Hyperlegible"/>
                <a:ea typeface="Atkinson Hyperlegible"/>
                <a:cs typeface="Atkinson Hyperlegible"/>
                <a:sym typeface="Atkinson Hyperlegible"/>
              </a:rPr>
              <a:t>Build more track</a:t>
            </a:r>
            <a:endParaRPr>
              <a:solidFill>
                <a:schemeClr val="accent5"/>
              </a:solidFill>
              <a:latin typeface="Atkinson Hyperlegible"/>
              <a:ea typeface="Atkinson Hyperlegible"/>
              <a:cs typeface="Atkinson Hyperlegible"/>
              <a:sym typeface="Atkinson Hyperlegible"/>
            </a:endParaRPr>
          </a:p>
          <a:p>
            <a:pPr indent="-308610" lvl="0" marL="457200" rtl="0" algn="l">
              <a:lnSpc>
                <a:spcPct val="115000"/>
              </a:lnSpc>
              <a:spcBef>
                <a:spcPts val="0"/>
              </a:spcBef>
              <a:spcAft>
                <a:spcPts val="0"/>
              </a:spcAft>
              <a:buClr>
                <a:schemeClr val="accent5"/>
              </a:buClr>
              <a:buSzPct val="100000"/>
              <a:buFont typeface="Atkinson Hyperlegible"/>
              <a:buAutoNum type="alphaLcPeriod"/>
            </a:pPr>
            <a:r>
              <a:rPr lang="en">
                <a:solidFill>
                  <a:schemeClr val="accent5"/>
                </a:solidFill>
                <a:latin typeface="Atkinson Hyperlegible"/>
                <a:ea typeface="Atkinson Hyperlegible"/>
                <a:cs typeface="Atkinson Hyperlegible"/>
                <a:sym typeface="Atkinson Hyperlegible"/>
              </a:rPr>
              <a:t>Invest in tech tree</a:t>
            </a:r>
            <a:endParaRPr>
              <a:solidFill>
                <a:schemeClr val="accent5"/>
              </a:solidFill>
              <a:latin typeface="Atkinson Hyperlegible"/>
              <a:ea typeface="Atkinson Hyperlegible"/>
              <a:cs typeface="Atkinson Hyperlegible"/>
              <a:sym typeface="Atkinson Hyperlegible"/>
            </a:endParaRPr>
          </a:p>
          <a:p>
            <a:pPr indent="-308610" lvl="0" marL="457200" rtl="0" algn="l">
              <a:lnSpc>
                <a:spcPct val="115000"/>
              </a:lnSpc>
              <a:spcBef>
                <a:spcPts val="0"/>
              </a:spcBef>
              <a:spcAft>
                <a:spcPts val="0"/>
              </a:spcAft>
              <a:buClr>
                <a:schemeClr val="accent5"/>
              </a:buClr>
              <a:buSzPct val="100000"/>
              <a:buFont typeface="Atkinson Hyperlegible"/>
              <a:buAutoNum type="alphaLcPeriod"/>
            </a:pPr>
            <a:r>
              <a:rPr lang="en">
                <a:solidFill>
                  <a:schemeClr val="accent5"/>
                </a:solidFill>
                <a:latin typeface="Atkinson Hyperlegible"/>
                <a:ea typeface="Atkinson Hyperlegible"/>
                <a:cs typeface="Atkinson Hyperlegible"/>
                <a:sym typeface="Atkinson Hyperlegible"/>
              </a:rPr>
              <a:t>Ignore it</a:t>
            </a:r>
            <a:endParaRPr>
              <a:solidFill>
                <a:schemeClr val="accent5"/>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None/>
            </a:pPr>
            <a:r>
              <a:rPr lang="en">
                <a:solidFill>
                  <a:schemeClr val="accent5"/>
                </a:solidFill>
                <a:latin typeface="Atkinson Hyperlegible"/>
                <a:ea typeface="Atkinson Hyperlegible"/>
                <a:cs typeface="Atkinson Hyperlegible"/>
                <a:sym typeface="Atkinson Hyperlegible"/>
              </a:rPr>
              <a:t>“</a:t>
            </a:r>
            <a:endParaRPr>
              <a:solidFill>
                <a:schemeClr val="accent5"/>
              </a:solidFill>
              <a:latin typeface="Atkinson Hyperlegible"/>
              <a:ea typeface="Atkinson Hyperlegible"/>
              <a:cs typeface="Atkinson Hyperlegible"/>
              <a:sym typeface="Atkinson Hyperlegibl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sp>
        <p:nvSpPr>
          <p:cNvPr id="106" name="Google Shape;106;p21"/>
          <p:cNvSpPr txBox="1"/>
          <p:nvPr>
            <p:ph type="title"/>
          </p:nvPr>
        </p:nvSpPr>
        <p:spPr>
          <a:xfrm>
            <a:off x="171300" y="385925"/>
            <a:ext cx="88224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b="1" lang="en" sz="2120">
                <a:solidFill>
                  <a:schemeClr val="accent6"/>
                </a:solidFill>
                <a:latin typeface="Atkinson Hyperlegible"/>
                <a:ea typeface="Atkinson Hyperlegible"/>
                <a:cs typeface="Atkinson Hyperlegible"/>
                <a:sym typeface="Atkinson Hyperlegible"/>
              </a:rPr>
              <a:t>Character Dialogue</a:t>
            </a:r>
            <a:br>
              <a:rPr b="1" lang="en" sz="2120">
                <a:solidFill>
                  <a:schemeClr val="accent6"/>
                </a:solidFill>
                <a:latin typeface="Atkinson Hyperlegible"/>
                <a:ea typeface="Atkinson Hyperlegible"/>
                <a:cs typeface="Atkinson Hyperlegible"/>
                <a:sym typeface="Atkinson Hyperlegible"/>
              </a:rPr>
            </a:br>
            <a:r>
              <a:rPr lang="en" sz="1420">
                <a:solidFill>
                  <a:schemeClr val="accent2"/>
                </a:solidFill>
                <a:latin typeface="Atkinson Hyperlegible"/>
                <a:ea typeface="Atkinson Hyperlegible"/>
                <a:cs typeface="Atkinson Hyperlegible"/>
                <a:sym typeface="Atkinson Hyperlegible"/>
              </a:rPr>
              <a:t>Character name: </a:t>
            </a:r>
            <a:endParaRPr sz="1420">
              <a:solidFill>
                <a:schemeClr val="accent2"/>
              </a:solidFill>
              <a:latin typeface="Atkinson Hyperlegible"/>
              <a:ea typeface="Atkinson Hyperlegible"/>
              <a:cs typeface="Atkinson Hyperlegible"/>
              <a:sym typeface="Atkinson Hyperlegible"/>
            </a:endParaRPr>
          </a:p>
        </p:txBody>
      </p:sp>
      <p:sp>
        <p:nvSpPr>
          <p:cNvPr id="107" name="Google Shape;107;p21"/>
          <p:cNvSpPr txBox="1"/>
          <p:nvPr>
            <p:ph idx="1" type="body"/>
          </p:nvPr>
        </p:nvSpPr>
        <p:spPr>
          <a:xfrm>
            <a:off x="311700" y="1245750"/>
            <a:ext cx="8520600" cy="3454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lt1"/>
              </a:buClr>
              <a:buSzPts val="1800"/>
              <a:buFont typeface="Atkinson Hyperlegible"/>
              <a:buAutoNum type="arabicPeriod"/>
            </a:pPr>
            <a:r>
              <a:rPr lang="en">
                <a:solidFill>
                  <a:schemeClr val="lt1"/>
                </a:solidFill>
                <a:latin typeface="Atkinson Hyperlegible"/>
                <a:ea typeface="Atkinson Hyperlegible"/>
                <a:cs typeface="Atkinson Hyperlegible"/>
                <a:sym typeface="Atkinson Hyperlegible"/>
              </a:rPr>
              <a:t>How should this character sound? What speech patterns do they use? What kind of vocabulary? What tone?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0"/>
              </a:spcAft>
              <a:buSzPts val="1800"/>
              <a:buNone/>
            </a:pPr>
            <a:r>
              <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1200"/>
              </a:spcBef>
              <a:spcAft>
                <a:spcPts val="0"/>
              </a:spcAft>
              <a:buClr>
                <a:schemeClr val="lt1"/>
              </a:buClr>
              <a:buSzPts val="1800"/>
              <a:buFont typeface="Atkinson Hyperlegible"/>
              <a:buAutoNum type="arabicPeriod"/>
            </a:pPr>
            <a:r>
              <a:rPr lang="en">
                <a:solidFill>
                  <a:schemeClr val="lt1"/>
                </a:solidFill>
                <a:latin typeface="Atkinson Hyperlegible"/>
                <a:ea typeface="Atkinson Hyperlegible"/>
                <a:cs typeface="Atkinson Hyperlegible"/>
                <a:sym typeface="Atkinson Hyperlegible"/>
              </a:rPr>
              <a:t>Do you have any models for this character’s voice?</a:t>
            </a:r>
            <a:endParaRPr>
              <a:solidFill>
                <a:schemeClr val="lt1"/>
              </a:solidFill>
              <a:latin typeface="Atkinson Hyperlegible"/>
              <a:ea typeface="Atkinson Hyperlegible"/>
              <a:cs typeface="Atkinson Hyperlegible"/>
              <a:sym typeface="Atkinson Hyperlegible"/>
            </a:endParaRPr>
          </a:p>
          <a:p>
            <a:pPr indent="0" lvl="0" marL="457200" rtl="0" algn="l">
              <a:lnSpc>
                <a:spcPct val="115000"/>
              </a:lnSpc>
              <a:spcBef>
                <a:spcPts val="1200"/>
              </a:spcBef>
              <a:spcAft>
                <a:spcPts val="0"/>
              </a:spcAft>
              <a:buSzPts val="1800"/>
              <a:buNone/>
            </a:pPr>
            <a:r>
              <a:t/>
            </a:r>
            <a:endParaRPr>
              <a:solidFill>
                <a:schemeClr val="lt1"/>
              </a:solidFill>
              <a:latin typeface="Atkinson Hyperlegible"/>
              <a:ea typeface="Atkinson Hyperlegible"/>
              <a:cs typeface="Atkinson Hyperlegible"/>
              <a:sym typeface="Atkinson Hyperlegible"/>
            </a:endParaRPr>
          </a:p>
          <a:p>
            <a:pPr indent="-342900" lvl="0" marL="457200" rtl="0" algn="l">
              <a:lnSpc>
                <a:spcPct val="115000"/>
              </a:lnSpc>
              <a:spcBef>
                <a:spcPts val="1200"/>
              </a:spcBef>
              <a:spcAft>
                <a:spcPts val="0"/>
              </a:spcAft>
              <a:buClr>
                <a:schemeClr val="lt1"/>
              </a:buClr>
              <a:buSzPts val="1800"/>
              <a:buFont typeface="Atkinson Hyperlegible"/>
              <a:buAutoNum type="arabicPeriod"/>
            </a:pPr>
            <a:r>
              <a:rPr lang="en">
                <a:solidFill>
                  <a:schemeClr val="lt1"/>
                </a:solidFill>
                <a:latin typeface="Atkinson Hyperlegible"/>
                <a:ea typeface="Atkinson Hyperlegible"/>
                <a:cs typeface="Atkinson Hyperlegible"/>
                <a:sym typeface="Atkinson Hyperlegible"/>
              </a:rPr>
              <a:t>Write a few lines of this character’s dialogue below. </a:t>
            </a:r>
            <a:endParaRPr>
              <a:solidFill>
                <a:schemeClr val="lt1"/>
              </a:solidFill>
              <a:latin typeface="Atkinson Hyperlegible"/>
              <a:ea typeface="Atkinson Hyperlegible"/>
              <a:cs typeface="Atkinson Hyperlegible"/>
              <a:sym typeface="Atkinson Hyperlegible"/>
            </a:endParaRPr>
          </a:p>
          <a:p>
            <a:pPr indent="0" lvl="0" marL="0" rtl="0" algn="l">
              <a:lnSpc>
                <a:spcPct val="115000"/>
              </a:lnSpc>
              <a:spcBef>
                <a:spcPts val="1200"/>
              </a:spcBef>
              <a:spcAft>
                <a:spcPts val="1200"/>
              </a:spcAft>
              <a:buSzPts val="1800"/>
              <a:buNone/>
            </a:pPr>
            <a:r>
              <a:t/>
            </a:r>
            <a:endParaRPr>
              <a:solidFill>
                <a:schemeClr val="lt1"/>
              </a:solidFill>
              <a:latin typeface="Atkinson Hyperlegible"/>
              <a:ea typeface="Atkinson Hyperlegible"/>
              <a:cs typeface="Atkinson Hyperlegible"/>
              <a:sym typeface="Atkinson Hyperlegible"/>
            </a:endParaRPr>
          </a:p>
        </p:txBody>
      </p:sp>
      <p:sp>
        <p:nvSpPr>
          <p:cNvPr id="108" name="Google Shape;108;p21"/>
          <p:cNvSpPr txBox="1"/>
          <p:nvPr>
            <p:ph type="title"/>
          </p:nvPr>
        </p:nvSpPr>
        <p:spPr>
          <a:xfrm>
            <a:off x="6781800" y="4378350"/>
            <a:ext cx="2211900" cy="70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000">
                <a:solidFill>
                  <a:schemeClr val="accent4"/>
                </a:solidFill>
                <a:latin typeface="Atkinson Hyperlegible"/>
                <a:ea typeface="Atkinson Hyperlegible"/>
                <a:cs typeface="Atkinson Hyperlegible"/>
                <a:sym typeface="Atkinson Hyperlegible"/>
              </a:rPr>
              <a:t>**Please copy-paste this slide for as many speaking characters as you have!**</a:t>
            </a:r>
            <a:endParaRPr sz="1000">
              <a:solidFill>
                <a:schemeClr val="accent4"/>
              </a:solidFill>
              <a:latin typeface="Atkinson Hyperlegible"/>
              <a:ea typeface="Atkinson Hyperlegible"/>
              <a:cs typeface="Atkinson Hyperlegible"/>
              <a:sym typeface="Atkinson Hyperlegibl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